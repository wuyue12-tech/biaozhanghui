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3C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1" name="图片 10"/>
          <p:cNvPicPr>
            <a:picLocks noChangeAspect="1"/>
          </p:cNvPicPr>
          <p:nvPr/>
        </p:nvPicPr>
        <p:blipFill>
          <a:blip r:embed="rId1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eyebrow"/>
          <p:cNvSpPr>
            <a:spLocks noGrp="1"/>
          </p:cNvSpPr>
          <p:nvPr/>
        </p:nvSpPr>
        <p:spPr>
          <a:xfrm>
            <a:off x="767080" y="836295"/>
            <a:ext cx="3429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/>
          <a:lstStyle/>
          <a:p>
            <a:pPr>
              <a:lnSpc>
                <a:spcPct val="100000"/>
              </a:lnSpc>
              <a:buNone/>
              <a:defRPr sz="1800" b="1">
                <a:solidFill>
                  <a:srgbClr val="0057D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00" b="1">
                <a:solidFill>
                  <a:srgbClr val="0057D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表彰会舞台招募</a:t>
            </a:r>
            <a:endParaRPr sz="1800" b="1">
              <a:solidFill>
                <a:srgbClr val="0057D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" name="main-title"/>
          <p:cNvSpPr>
            <a:spLocks noGrp="1"/>
          </p:cNvSpPr>
          <p:nvPr/>
        </p:nvSpPr>
        <p:spPr>
          <a:xfrm>
            <a:off x="781050" y="1295400"/>
            <a:ext cx="5429250" cy="1695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/>
          <a:lstStyle/>
          <a:p>
            <a:pPr>
              <a:lnSpc>
                <a:spcPct val="88000"/>
              </a:lnSpc>
              <a:buNone/>
              <a:defRPr sz="5850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5850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表演人员</a:t>
            </a:r>
            <a:endParaRPr sz="5850" b="1">
              <a:solidFill>
                <a:srgbClr val="11111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>
              <a:lnSpc>
                <a:spcPct val="88000"/>
              </a:lnSpc>
              <a:buNone/>
              <a:defRPr sz="5850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5850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招募令</a:t>
            </a:r>
            <a:endParaRPr sz="5850" b="1">
              <a:solidFill>
                <a:srgbClr val="11111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" name="main-subtitle"/>
          <p:cNvSpPr>
            <a:spLocks noGrp="1"/>
          </p:cNvSpPr>
          <p:nvPr/>
        </p:nvSpPr>
        <p:spPr>
          <a:xfrm>
            <a:off x="1271270" y="3239135"/>
            <a:ext cx="59055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/>
          <a:lstStyle/>
          <a:p>
            <a:pPr>
              <a:lnSpc>
                <a:spcPct val="105000"/>
              </a:lnSpc>
              <a:buNone/>
              <a:defRPr sz="2550" b="1">
                <a:solidFill>
                  <a:srgbClr val="E6474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550" b="1">
                <a:solidFill>
                  <a:srgbClr val="E6474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把你的节目带上舞台，</a:t>
            </a:r>
            <a:endParaRPr sz="2550" b="1">
              <a:solidFill>
                <a:srgbClr val="E6474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>
              <a:lnSpc>
                <a:spcPct val="105000"/>
              </a:lnSpc>
              <a:buNone/>
              <a:defRPr sz="2550" b="1">
                <a:solidFill>
                  <a:srgbClr val="E6474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550" b="1">
                <a:solidFill>
                  <a:srgbClr val="E6474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为优秀点燃掌声。</a:t>
            </a:r>
            <a:endParaRPr sz="2550" b="1">
              <a:solidFill>
                <a:srgbClr val="E6474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" name="program-types"/>
          <p:cNvSpPr>
            <a:spLocks noGrp="1"/>
          </p:cNvSpPr>
          <p:nvPr/>
        </p:nvSpPr>
        <p:spPr>
          <a:xfrm>
            <a:off x="1268730" y="4400550"/>
            <a:ext cx="6572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/>
          <a:lstStyle/>
          <a:p>
            <a:pPr>
              <a:defRPr sz="1875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75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歌唱 / 舞蹈 / 朗诵 / 器乐 / 情景剧 / 创意节目</a:t>
            </a:r>
            <a:endParaRPr sz="1875" b="1">
              <a:solidFill>
                <a:srgbClr val="11111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" name="open-note"/>
          <p:cNvSpPr>
            <a:spLocks noGrp="1"/>
          </p:cNvSpPr>
          <p:nvPr/>
        </p:nvSpPr>
        <p:spPr>
          <a:xfrm>
            <a:off x="1287780" y="4905375"/>
            <a:ext cx="6191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/>
          <a:lstStyle/>
          <a:p>
            <a:pPr>
              <a:defRPr sz="1650">
                <a:solidFill>
                  <a:srgbClr val="2A2A2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>
                <a:solidFill>
                  <a:srgbClr val="2A2A2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个人、小组都可以，有初步想法就可以来报名。</a:t>
            </a:r>
            <a:endParaRPr sz="1650">
              <a:solidFill>
                <a:srgbClr val="2A2A2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" name="signup-title"/>
          <p:cNvSpPr>
            <a:spLocks noGrp="1"/>
          </p:cNvSpPr>
          <p:nvPr/>
        </p:nvSpPr>
        <p:spPr>
          <a:xfrm>
            <a:off x="7658100" y="1600200"/>
            <a:ext cx="2476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/>
          <a:lstStyle/>
          <a:p>
            <a:pPr>
              <a:defRPr sz="2850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850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报名信息</a:t>
            </a:r>
            <a:endParaRPr sz="2850" b="1">
              <a:solidFill>
                <a:srgbClr val="11111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" name="signup-body"/>
          <p:cNvSpPr>
            <a:spLocks noGrp="1"/>
          </p:cNvSpPr>
          <p:nvPr/>
        </p:nvSpPr>
        <p:spPr>
          <a:xfrm>
            <a:off x="7677150" y="2305050"/>
            <a:ext cx="3429000" cy="2952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/>
          <a:lstStyle/>
          <a:p>
            <a:pPr>
              <a:lnSpc>
                <a:spcPct val="112000"/>
              </a:lnSpc>
              <a:buNone/>
              <a:defRPr sz="1575" b="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75" b="1">
                <a:solidFill>
                  <a:srgbClr val="111111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" panose="020B0400000000000000" charset="-122"/>
              </a:rPr>
              <a:t>招募对象</a:t>
            </a:r>
            <a:endParaRPr sz="1575" b="1">
              <a:solidFill>
                <a:srgbClr val="111111"/>
              </a:solidFill>
              <a:latin typeface="PingFang SC Semibold" panose="020B0400000000000000" charset="-122"/>
              <a:ea typeface="PingFang SC Semibold" panose="020B0400000000000000" charset="-122"/>
              <a:cs typeface="PingFang SC" panose="020B0400000000000000" charset="-122"/>
            </a:endParaRPr>
          </a:p>
          <a:p>
            <a:pPr>
              <a:lnSpc>
                <a:spcPct val="112000"/>
              </a:lnSpc>
              <a:buNone/>
              <a:defRPr sz="1575" b="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75" b="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有表演意愿的同学或小组</a:t>
            </a:r>
            <a:endParaRPr sz="1575" b="0">
              <a:solidFill>
                <a:srgbClr val="11111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endParaRPr sz="1575"/>
          </a:p>
          <a:p>
            <a:pPr>
              <a:lnSpc>
                <a:spcPct val="112000"/>
              </a:lnSpc>
              <a:buNone/>
              <a:defRPr sz="1575" b="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75" b="1">
                <a:solidFill>
                  <a:srgbClr val="111111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" panose="020B0400000000000000" charset="-122"/>
              </a:rPr>
              <a:t>节目要求</a:t>
            </a:r>
            <a:r>
              <a:rPr lang="en-US" sz="1575" b="1">
                <a:solidFill>
                  <a:srgbClr val="111111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" panose="020B0400000000000000" charset="-122"/>
              </a:rPr>
              <a:t>：</a:t>
            </a:r>
            <a:endParaRPr sz="1575" b="1">
              <a:solidFill>
                <a:srgbClr val="111111"/>
              </a:solidFill>
              <a:latin typeface="PingFang SC Semibold" panose="020B0400000000000000" charset="-122"/>
              <a:ea typeface="PingFang SC Semibold" panose="020B0400000000000000" charset="-122"/>
              <a:cs typeface="PingFang SC" panose="020B0400000000000000" charset="-122"/>
            </a:endParaRPr>
          </a:p>
          <a:p>
            <a:pPr>
              <a:lnSpc>
                <a:spcPct val="112000"/>
              </a:lnSpc>
              <a:buNone/>
              <a:defRPr sz="1575" b="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75" b="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内容积极</a:t>
            </a:r>
            <a:endParaRPr sz="1575" b="0">
              <a:solidFill>
                <a:srgbClr val="11111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>
              <a:lnSpc>
                <a:spcPct val="112000"/>
              </a:lnSpc>
              <a:buNone/>
              <a:defRPr sz="1575" b="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75" b="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建议 3-5 分钟</a:t>
            </a:r>
            <a:endParaRPr sz="1575" b="0">
              <a:solidFill>
                <a:srgbClr val="11111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>
              <a:lnSpc>
                <a:spcPct val="112000"/>
              </a:lnSpc>
              <a:buNone/>
              <a:defRPr sz="1575" b="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75" b="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能配合彩排</a:t>
            </a:r>
            <a:endParaRPr sz="1575" b="0">
              <a:solidFill>
                <a:srgbClr val="11111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endParaRPr sz="1575"/>
          </a:p>
          <a:p>
            <a:pPr>
              <a:lnSpc>
                <a:spcPct val="112000"/>
              </a:lnSpc>
              <a:buNone/>
              <a:defRPr sz="1575" b="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75" b="1">
                <a:solidFill>
                  <a:srgbClr val="111111"/>
                </a:solidFill>
                <a:highlight>
                  <a:srgbClr val="FFFF00"/>
                </a:highlight>
                <a:latin typeface="PingFang SC Semibold" panose="020B0400000000000000" charset="-122"/>
                <a:ea typeface="PingFang SC Semibold" panose="020B0400000000000000" charset="-122"/>
                <a:cs typeface="PingFang SC" panose="020B0400000000000000" charset="-122"/>
              </a:rPr>
              <a:t>报名方式</a:t>
            </a:r>
            <a:r>
              <a:rPr lang="en-US" sz="1575" b="1">
                <a:solidFill>
                  <a:srgbClr val="111111"/>
                </a:solidFill>
                <a:highlight>
                  <a:srgbClr val="FFFF00"/>
                </a:highlight>
                <a:latin typeface="PingFang SC Semibold" panose="020B0400000000000000" charset="-122"/>
                <a:ea typeface="PingFang SC Semibold" panose="020B0400000000000000" charset="-122"/>
                <a:cs typeface="PingFang SC" panose="020B0400000000000000" charset="-122"/>
              </a:rPr>
              <a:t>：</a:t>
            </a:r>
            <a:endParaRPr lang="en-US" sz="1575" b="1">
              <a:solidFill>
                <a:srgbClr val="111111"/>
              </a:solidFill>
              <a:highlight>
                <a:srgbClr val="FFFF00"/>
              </a:highlight>
              <a:latin typeface="PingFang SC Semibold" panose="020B0400000000000000" charset="-122"/>
              <a:ea typeface="PingFang SC Semibold" panose="020B0400000000000000" charset="-122"/>
              <a:cs typeface="PingFang SC" panose="020B0400000000000000" charset="-122"/>
            </a:endParaRPr>
          </a:p>
          <a:p>
            <a:pPr>
              <a:lnSpc>
                <a:spcPct val="112000"/>
              </a:lnSpc>
              <a:buNone/>
              <a:defRPr sz="1575" b="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lang="zh-CN" altLang="en-US" sz="1575" b="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联系</a:t>
            </a:r>
            <a:r>
              <a:rPr>
                <a:sym typeface="+mn-ea"/>
              </a:rPr>
              <a:t>金以柔、金芷晔、周埕锐、葛家铭</a:t>
            </a:r>
            <a:endParaRPr>
              <a:solidFill>
                <a:srgbClr val="11111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>
              <a:lnSpc>
                <a:spcPct val="112000"/>
              </a:lnSpc>
              <a:buNone/>
              <a:defRPr sz="1575" b="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endParaRPr sz="1575" b="0">
              <a:solidFill>
                <a:srgbClr val="11111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>
              <a:lnSpc>
                <a:spcPct val="112000"/>
              </a:lnSpc>
              <a:buNone/>
              <a:defRPr sz="1575" b="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75" b="1">
                <a:solidFill>
                  <a:srgbClr val="111111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" panose="020B0400000000000000" charset="-122"/>
              </a:rPr>
              <a:t>报名截止：</a:t>
            </a:r>
            <a:r>
              <a:rPr lang="zh-CN" sz="1575" b="1">
                <a:solidFill>
                  <a:srgbClr val="111111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" panose="020B0400000000000000" charset="-122"/>
              </a:rPr>
              <a:t>本周五</a:t>
            </a:r>
            <a:endParaRPr lang="zh-CN" sz="1575" b="1">
              <a:solidFill>
                <a:srgbClr val="111111"/>
              </a:solidFill>
              <a:latin typeface="PingFang SC Semibold" panose="020B0400000000000000" charset="-122"/>
              <a:ea typeface="PingFang SC Semibold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155</Words>
  <Application>WPS 表格</Application>
  <PresentationFormat>Converted Presentation</PresentationFormat>
  <Paragraphs>27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4" baseType="lpstr">
      <vt:lpstr>Arial</vt:lpstr>
      <vt:lpstr>宋体</vt:lpstr>
      <vt:lpstr>Wingdings</vt:lpstr>
      <vt:lpstr>PingFang SC</vt:lpstr>
      <vt:lpstr>Calibri</vt:lpstr>
      <vt:lpstr>Helvetica Neue</vt:lpstr>
      <vt:lpstr>微软雅黑</vt:lpstr>
      <vt:lpstr>汉仪旗黑</vt:lpstr>
      <vt:lpstr>宋体</vt:lpstr>
      <vt:lpstr>Arial Unicode MS</vt:lpstr>
      <vt:lpstr>汉仪书宋二KW</vt:lpstr>
      <vt:lpstr>PingFang SC Semibold</vt:lpstr>
      <vt:lpstr>ChatGPT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吴越</cp:lastModifiedBy>
  <cp:revision>1</cp:revision>
  <dcterms:created xsi:type="dcterms:W3CDTF">2026-06-22T10:43:28Z</dcterms:created>
  <dcterms:modified xsi:type="dcterms:W3CDTF">2026-06-22T10:43:28Z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1CB91590805EE665D011396AB8B8D0A4_42</vt:lpwstr>
  </property>
  <property fmtid="{D5CDD505-2E9C-101B-9397-08002B2CF9AE}" pid="3" name="KSOProductBuildVer">
    <vt:lpwstr>2052-12.1.26016.26016</vt:lpwstr>
  </property>
</Properties>
</file>